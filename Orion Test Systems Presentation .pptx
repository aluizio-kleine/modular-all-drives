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16670653" r:id="rId3"/>
    <p:sldId id="16670664" r:id="rId4"/>
    <p:sldId id="16670662" r:id="rId5"/>
    <p:sldId id="16670663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1236D6-02BA-48A5-8535-7E058A8DC1BA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E822FC-5CD2-421E-B99D-457408037E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4778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A0F04-15C9-8978-61B3-266D42830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40C7355-F6B1-4E30-C298-F2690AB5DC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D8A8E59-46B6-3572-AEE3-F77EEB9C01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10DB7B3-958C-924A-CA1D-DA5E8B7326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F972D5-2B44-4670-8471-C1B5645CB50D}" type="slidenum">
              <a:rPr kumimoji="0" lang="pt-BR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pt-BR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67349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48D29-F360-5587-8BAE-806B747A1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3BE79A8-C629-B5ED-A1E7-7EC597A8AB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489CDEA-E546-153C-272C-F61CBE586D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EA93A12-C300-484D-AD17-F74FC1269C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F972D5-2B44-4670-8471-C1B5645CB50D}" type="slidenum">
              <a:rPr kumimoji="0" lang="pt-BR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pt-BR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98123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3AFCF-2B96-DFB7-FB37-5F4C4DB25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70D01D5-377D-76C0-0AD2-F74F749EB3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9138E51-5886-FCB3-34BF-650493846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B50B753-ECAB-48A2-8671-6225C21492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F972D5-2B44-4670-8471-C1B5645CB50D}" type="slidenum">
              <a:rPr kumimoji="0" lang="pt-BR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pt-BR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30440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49E85-9E29-2DD5-A3BA-4AF1059A8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40DBB3A-A8FE-45DA-7B1B-4BC4A88FE6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7E5B7C5-CF51-1713-F786-3F5DD1D888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6CB15F6-733C-D5E8-B340-41B59514C1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F972D5-2B44-4670-8471-C1B5645CB50D}" type="slidenum">
              <a:rPr kumimoji="0" lang="pt-BR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pt-BR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5999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FF0128-5142-7F44-69B1-7F7A10662D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1B9B571-9509-8D84-3AF1-8CE63D5ABA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D45241-E73C-61FE-8846-30406A03A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0C1EF-F17F-4C60-8584-4B6996DD280C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B0105B-F0FB-93AC-CE0A-AA26A205D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C8F2F8F-19F9-A9BA-8FCE-67AAEE80B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9EAE-DD19-4CD5-B762-54954AAEB5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133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759B9-F3D5-385D-BD31-D83F77502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21629E-04C5-CB1C-BD10-34932918BA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863C66-6E31-0115-3910-EDCA8090E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0C1EF-F17F-4C60-8584-4B6996DD280C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F81F5C-9BEE-ADB7-B331-1434CF7E7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3929497-3A2B-318C-0F0F-9D140ADC3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9EAE-DD19-4CD5-B762-54954AAEB5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4631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F59920-463A-4A49-9D83-AAA63786D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2F45655-7FBE-F403-2A03-6A2DC7032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89957D-854D-CD26-94A4-6286E8ADD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0C1EF-F17F-4C60-8584-4B6996DD280C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2DDFF0-B10D-45AA-53AC-AEA4B0BF7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6C7C99-2D96-2506-D38F-0C0484620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9EAE-DD19-4CD5-B762-54954AAEB5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9004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440546-150A-B4E4-0D2C-9C3469FC0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134FE1-7445-AF87-1EBB-EE48A05107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1FF021-4140-DAAB-9839-2142DE36DC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495CB6C-184B-8C70-0690-31AFCE386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0C1EF-F17F-4C60-8584-4B6996DD280C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C456033-3521-251A-E5B6-EEDC16489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0DC1260-8C91-1D61-E242-DB79B21F0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9EAE-DD19-4CD5-B762-54954AAEB5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823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2E8184-298D-8DD1-F15F-E94E40E99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F0207A-FCE3-F83E-6F67-0F98B5346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959A520-99AC-297C-756F-97995D6BCD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5E17A5A-882A-593C-12DF-DE7E13DABF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0DB6B6D-F1DC-59F6-6754-C1238CA657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0D94446-6D1D-C43E-AFA8-24042D8E0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0C1EF-F17F-4C60-8584-4B6996DD280C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31A127E-8DE1-5BFE-B371-E1C72125E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2D5E561-C172-2A82-FCA9-993A8EB3F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9EAE-DD19-4CD5-B762-54954AAEB5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423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EBDD6A-E296-6751-59A0-ACE6F9B50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6AF00A-1F3A-6D90-F4CF-6CA89689C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0C1EF-F17F-4C60-8584-4B6996DD280C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58469D-041E-6328-7AF9-9E3BE8E72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C3DD911-2B6F-FF3C-B8C4-FBDCC3DB3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9EAE-DD19-4CD5-B762-54954AAEB5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4976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19086EE-52D8-861F-EBF2-19C4D369F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0C1EF-F17F-4C60-8584-4B6996DD280C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ABCC515-D641-07CF-F2B1-3F1F0AD78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8A7F057-6FBE-AC07-5642-03FF9E5D0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9EAE-DD19-4CD5-B762-54954AAEB5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9935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B4308A-CD1D-4290-BEA4-994014017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D02DAC-2F3E-3F46-A0F7-81324315B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F0FD949-369D-77AE-7453-D378FA1111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D72B384-AD34-662E-15C8-25E70CCB4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0C1EF-F17F-4C60-8584-4B6996DD280C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630415F-A4E4-5DC6-8AF7-EA268A92A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029437-7340-88B9-EA6E-F6C11135E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9EAE-DD19-4CD5-B762-54954AAEB5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9498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02E9E5-C562-E8E6-003F-EF7D34EA8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C53DA96-76B3-0C22-B7FD-A74914DE03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9EF9FFA-88EA-4A84-EDAA-A3FC93ABE6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9626B5E-DF8C-58E1-794F-0682758E2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0C1EF-F17F-4C60-8584-4B6996DD280C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EC6F458-0F3F-318F-5EA1-FC55DE0CC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F10733A-3CFB-CA0B-69B3-EBEB67836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9EAE-DD19-4CD5-B762-54954AAEB5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9103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EF2495-5E3E-FE6C-7030-A0484E0F4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37D247E-175A-E644-830C-DE45886610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3972E9-9CC8-2BBD-87D3-58521CF94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0C1EF-F17F-4C60-8584-4B6996DD280C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A64054B-EEA5-9A7A-993A-25AECC2F0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30F6965-7C70-B744-F7EB-188F9D61C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9EAE-DD19-4CD5-B762-54954AAEB5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6243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3193D6F-F623-B949-974B-47224D35D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E7E5D4E-0B0A-86B0-63EE-13AF3EF458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53A7A8-C42C-B54C-C934-592576414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0C1EF-F17F-4C60-8584-4B6996DD280C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BE9F56-54C0-109B-B397-28F1D47F7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D5267D-7676-D1EA-3E47-8EBC7B3DA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99EAE-DD19-4CD5-B762-54954AAEB5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0592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4194430-C49C-5F3E-B418-16CEBF6EB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D6A5257-A799-62E0-78BF-760E6D49A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46B9760-44C1-9E0A-282B-3EF7CC73D3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20C1EF-F17F-4C60-8584-4B6996DD280C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9C386A-BF44-1D47-2015-5CABCDC55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6EEBE7-D1F9-3065-FECB-B799F4052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399EAE-DD19-4CD5-B762-54954AAEB5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6908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8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3.png"/><Relationship Id="rId5" Type="http://schemas.openxmlformats.org/officeDocument/2006/relationships/image" Target="../media/image5.svg"/><Relationship Id="rId10" Type="http://schemas.openxmlformats.org/officeDocument/2006/relationships/image" Target="../media/image12.png"/><Relationship Id="rId4" Type="http://schemas.openxmlformats.org/officeDocument/2006/relationships/image" Target="../media/image4.sv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.sv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4.sv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A64F36-8C98-D0B2-1416-95DFEFA07E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9009" y="1527048"/>
            <a:ext cx="7433977" cy="2340956"/>
          </a:xfrm>
        </p:spPr>
        <p:txBody>
          <a:bodyPr>
            <a:noAutofit/>
          </a:bodyPr>
          <a:lstStyle/>
          <a:p>
            <a:r>
              <a:rPr lang="pt-BR" sz="48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Test </a:t>
            </a:r>
            <a:r>
              <a:rPr lang="pt-BR" sz="48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station</a:t>
            </a:r>
            <a:r>
              <a:rPr lang="pt-BR" sz="48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system </a:t>
            </a:r>
            <a:r>
              <a:rPr lang="pt-BR" sz="48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concept</a:t>
            </a:r>
            <a:r>
              <a:rPr lang="pt-BR" sz="48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for CFW600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3048F79D-FED4-18D4-83CF-4E31F71C7007}"/>
              </a:ext>
            </a:extLst>
          </p:cNvPr>
          <p:cNvSpPr txBox="1">
            <a:spLocks/>
          </p:cNvSpPr>
          <p:nvPr/>
        </p:nvSpPr>
        <p:spPr>
          <a:xfrm>
            <a:off x="2142835" y="4802910"/>
            <a:ext cx="7906327" cy="66963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Engenharia Industrial Drives</a:t>
            </a:r>
          </a:p>
        </p:txBody>
      </p:sp>
    </p:spTree>
    <p:extLst>
      <p:ext uri="{BB962C8B-B14F-4D97-AF65-F5344CB8AC3E}">
        <p14:creationId xmlns:p14="http://schemas.microsoft.com/office/powerpoint/2010/main" val="3543308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EFFF7-F8BC-7D98-697D-AC59423C1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>
            <a:extLst>
              <a:ext uri="{FF2B5EF4-FFF2-40B4-BE49-F238E27FC236}">
                <a16:creationId xmlns:a16="http://schemas.microsoft.com/office/drawing/2014/main" id="{E5396F31-9AE1-F1F8-3CF7-06FE2E2C4D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5496" y="1629934"/>
            <a:ext cx="2114409" cy="2965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1055D16D-87C7-008F-FE4C-1F24008BB8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3852" y="3119530"/>
            <a:ext cx="1858254" cy="2579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s 14">
            <a:extLst>
              <a:ext uri="{FF2B5EF4-FFF2-40B4-BE49-F238E27FC236}">
                <a16:creationId xmlns:a16="http://schemas.microsoft.com/office/drawing/2014/main" id="{3AFCD18E-B1D3-0965-46BF-D49AE7C65F33}"/>
              </a:ext>
            </a:extLst>
          </p:cNvPr>
          <p:cNvSpPr/>
          <p:nvPr/>
        </p:nvSpPr>
        <p:spPr>
          <a:xfrm>
            <a:off x="11181715" y="0"/>
            <a:ext cx="1010920" cy="1010920"/>
          </a:xfrm>
          <a:prstGeom prst="rect">
            <a:avLst/>
          </a:prstGeom>
          <a:solidFill>
            <a:srgbClr val="005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Gráfico 8">
            <a:extLst>
              <a:ext uri="{FF2B5EF4-FFF2-40B4-BE49-F238E27FC236}">
                <a16:creationId xmlns:a16="http://schemas.microsoft.com/office/drawing/2014/main" id="{EBB2CCED-2136-2057-36E1-F94237ADD9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99520" y="306070"/>
            <a:ext cx="575310" cy="398145"/>
          </a:xfrm>
          <a:prstGeom prst="rect">
            <a:avLst/>
          </a:prstGeom>
        </p:spPr>
      </p:pic>
      <p:sp>
        <p:nvSpPr>
          <p:cNvPr id="11" name="Text Box 10">
            <a:extLst>
              <a:ext uri="{FF2B5EF4-FFF2-40B4-BE49-F238E27FC236}">
                <a16:creationId xmlns:a16="http://schemas.microsoft.com/office/drawing/2014/main" id="{B72FFB01-61C2-6DDC-6425-E84CE7EDBE6C}"/>
              </a:ext>
            </a:extLst>
          </p:cNvPr>
          <p:cNvSpPr txBox="1"/>
          <p:nvPr/>
        </p:nvSpPr>
        <p:spPr>
          <a:xfrm>
            <a:off x="404495" y="182880"/>
            <a:ext cx="1077722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569D"/>
                </a:solidFill>
                <a:effectLst/>
                <a:uLnTx/>
                <a:uFillTx/>
                <a:latin typeface="Arial Regular" panose="020B0704020202090204" charset="0"/>
                <a:ea typeface="+mn-ea"/>
                <a:cs typeface="Arial Regular" panose="020B0704020202090204" charset="0"/>
              </a:rPr>
              <a:t>CFW600 A, B, C Test system </a:t>
            </a:r>
            <a:r>
              <a:rPr kumimoji="0" lang="pt-BR" alt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srgbClr val="00569D"/>
                </a:solidFill>
                <a:effectLst/>
                <a:uLnTx/>
                <a:uFillTx/>
                <a:latin typeface="Arial Regular" panose="020B0704020202090204" charset="0"/>
                <a:ea typeface="+mn-ea"/>
                <a:cs typeface="Arial Regular" panose="020B0704020202090204" charset="0"/>
              </a:rPr>
              <a:t>concept</a:t>
            </a:r>
            <a:r>
              <a:rPr kumimoji="0" lang="pt-BR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569D"/>
                </a:solidFill>
                <a:effectLst/>
                <a:uLnTx/>
                <a:uFillTx/>
                <a:latin typeface="Arial Regular" panose="020B0704020202090204" charset="0"/>
                <a:ea typeface="+mn-ea"/>
                <a:cs typeface="Arial Regular" panose="020B0704020202090204" charset="0"/>
              </a:rPr>
              <a:t>.</a:t>
            </a:r>
            <a:endParaRPr kumimoji="0" lang="pt-BR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4BD0FF"/>
              </a:solidFill>
              <a:effectLst/>
              <a:uLnTx/>
              <a:uFillTx/>
              <a:latin typeface="Arial Regular" panose="020B0704020202090204" charset="0"/>
              <a:ea typeface="+mn-ea"/>
              <a:cs typeface="Arial Regular" panose="020B0704020202090204" charset="0"/>
            </a:endParaRPr>
          </a:p>
        </p:txBody>
      </p:sp>
      <p:sp>
        <p:nvSpPr>
          <p:cNvPr id="17" name="Retângulo 1">
            <a:extLst>
              <a:ext uri="{FF2B5EF4-FFF2-40B4-BE49-F238E27FC236}">
                <a16:creationId xmlns:a16="http://schemas.microsoft.com/office/drawing/2014/main" id="{887BC9C0-45D8-DEA3-709D-0EF003ED1D97}"/>
              </a:ext>
            </a:extLst>
          </p:cNvPr>
          <p:cNvSpPr/>
          <p:nvPr/>
        </p:nvSpPr>
        <p:spPr>
          <a:xfrm>
            <a:off x="514985" y="990600"/>
            <a:ext cx="10666730" cy="20320"/>
          </a:xfrm>
          <a:prstGeom prst="rect">
            <a:avLst/>
          </a:prstGeom>
          <a:solidFill>
            <a:srgbClr val="4BD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7" name="Gráfico 101">
            <a:extLst>
              <a:ext uri="{FF2B5EF4-FFF2-40B4-BE49-F238E27FC236}">
                <a16:creationId xmlns:a16="http://schemas.microsoft.com/office/drawing/2014/main" id="{99027FC3-4089-85A6-108B-A1C6D4FCA8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81715" y="5391785"/>
            <a:ext cx="1010285" cy="1466215"/>
          </a:xfrm>
          <a:prstGeom prst="rect">
            <a:avLst/>
          </a:prstGeom>
        </p:spPr>
      </p:pic>
      <p:pic>
        <p:nvPicPr>
          <p:cNvPr id="1028" name="Picture 4" descr="Alvo - ícones de setas grátis">
            <a:extLst>
              <a:ext uri="{FF2B5EF4-FFF2-40B4-BE49-F238E27FC236}">
                <a16:creationId xmlns:a16="http://schemas.microsoft.com/office/drawing/2014/main" id="{2630F4E7-131E-280C-8D46-278A970DD2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2816" y="9652825"/>
            <a:ext cx="85468" cy="8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CFFD4099-E7D3-8387-0F51-C3F7DCDC9D84}"/>
              </a:ext>
            </a:extLst>
          </p:cNvPr>
          <p:cNvSpPr txBox="1"/>
          <p:nvPr/>
        </p:nvSpPr>
        <p:spPr>
          <a:xfrm>
            <a:off x="638782" y="1158681"/>
            <a:ext cx="104058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-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Based</a:t>
            </a:r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on</a:t>
            </a:r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the</a:t>
            </a:r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sales</a:t>
            </a:r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 volume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of</a:t>
            </a:r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these</a:t>
            </a:r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sizes</a:t>
            </a:r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and</a:t>
            </a:r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the</a:t>
            </a:r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possibility</a:t>
            </a:r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of</a:t>
            </a:r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producing</a:t>
            </a:r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the</a:t>
            </a:r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same</a:t>
            </a:r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products</a:t>
            </a:r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 in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other</a:t>
            </a:r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 countries,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two</a:t>
            </a:r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concepts</a:t>
            </a:r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 are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proposed</a:t>
            </a:r>
            <a:endParaRPr lang="pt-BR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D553362-D64D-3C63-7CBE-CCFB513D5E7A}"/>
              </a:ext>
            </a:extLst>
          </p:cNvPr>
          <p:cNvSpPr txBox="1"/>
          <p:nvPr/>
        </p:nvSpPr>
        <p:spPr>
          <a:xfrm>
            <a:off x="590195" y="2023440"/>
            <a:ext cx="906586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First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concept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- LIM 2.0: Use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the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same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concept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as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the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existing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LIM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lines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with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improvements</a:t>
            </a:r>
            <a:endParaRPr lang="pt-BR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742950" lvl="1" indent="-285750">
              <a:buFontTx/>
              <a:buChar char="-"/>
            </a:pP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Automated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power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and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control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connections;</a:t>
            </a:r>
          </a:p>
          <a:p>
            <a:pPr marL="742950" lvl="1" indent="-285750">
              <a:buFontTx/>
              <a:buChar char="-"/>
            </a:pP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Automated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laser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engraving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and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packaging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;</a:t>
            </a:r>
          </a:p>
          <a:p>
            <a:pPr marL="742950" lvl="1" indent="-285750">
              <a:buFontTx/>
              <a:buChar char="-"/>
            </a:pP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Vision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inspection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and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Mate system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during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the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manual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assembly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;</a:t>
            </a:r>
          </a:p>
          <a:p>
            <a:pPr marL="742950" lvl="1" indent="-285750">
              <a:buFontTx/>
              <a:buChar char="-"/>
            </a:pP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6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test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positions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;</a:t>
            </a:r>
          </a:p>
          <a:p>
            <a:pPr marL="742950" lvl="1" indent="-285750">
              <a:buFontTx/>
              <a:buChar char="-"/>
            </a:pPr>
            <a:endParaRPr lang="pt-BR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742950" lvl="1" indent="-285750">
              <a:buFontTx/>
              <a:buChar char="-"/>
            </a:pPr>
            <a:endParaRPr lang="pt-BR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pt-BR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9EC88673-ADF6-4D69-FBFA-E8442FEB6A43}"/>
              </a:ext>
            </a:extLst>
          </p:cNvPr>
          <p:cNvSpPr txBox="1"/>
          <p:nvPr/>
        </p:nvSpPr>
        <p:spPr>
          <a:xfrm>
            <a:off x="648016" y="4140597"/>
            <a:ext cx="666690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Second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concept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fully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automated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assembly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test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packaging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line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  <a:p>
            <a:pPr marL="742950" lvl="1" indent="-285750">
              <a:buFontTx/>
              <a:buChar char="-"/>
            </a:pP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Automated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power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and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control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connections;</a:t>
            </a:r>
          </a:p>
          <a:p>
            <a:pPr marL="742950" lvl="1" indent="-285750">
              <a:buFontTx/>
              <a:buChar char="-"/>
            </a:pP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Automated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laser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engraving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and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packaging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;</a:t>
            </a:r>
          </a:p>
          <a:p>
            <a:pPr marL="742950" lvl="1" indent="-285750">
              <a:buFontTx/>
              <a:buChar char="-"/>
            </a:pP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Automated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assembly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;</a:t>
            </a:r>
          </a:p>
          <a:p>
            <a:pPr marL="742950" lvl="1" indent="-285750">
              <a:buFontTx/>
              <a:buChar char="-"/>
            </a:pP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6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test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positions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;</a:t>
            </a:r>
          </a:p>
          <a:p>
            <a:pPr marL="742950" lvl="1" indent="-285750">
              <a:buFontTx/>
              <a:buChar char="-"/>
            </a:pP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Fully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integrated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system;</a:t>
            </a:r>
          </a:p>
          <a:p>
            <a:pPr marL="742950" lvl="1" indent="-285750">
              <a:buFontTx/>
              <a:buChar char="-"/>
            </a:pPr>
            <a:endParaRPr lang="pt-BR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pt-BR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D7ACD5C-CB73-B1F4-012E-9E87555BD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5236" y="4303971"/>
            <a:ext cx="1820828" cy="2426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7688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CDE68-6499-B923-44FD-0AF949E9D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m 23">
            <a:extLst>
              <a:ext uri="{FF2B5EF4-FFF2-40B4-BE49-F238E27FC236}">
                <a16:creationId xmlns:a16="http://schemas.microsoft.com/office/drawing/2014/main" id="{34B523DA-1872-EFAB-D73A-60CC48A5A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1694" y="3942764"/>
            <a:ext cx="1832716" cy="2123624"/>
          </a:xfrm>
          <a:prstGeom prst="rect">
            <a:avLst/>
          </a:prstGeom>
        </p:spPr>
      </p:pic>
      <p:sp>
        <p:nvSpPr>
          <p:cNvPr id="15" name="Rectangles 14">
            <a:extLst>
              <a:ext uri="{FF2B5EF4-FFF2-40B4-BE49-F238E27FC236}">
                <a16:creationId xmlns:a16="http://schemas.microsoft.com/office/drawing/2014/main" id="{2A0A387E-6434-EBD3-5ABC-0A5AB8A9CF93}"/>
              </a:ext>
            </a:extLst>
          </p:cNvPr>
          <p:cNvSpPr/>
          <p:nvPr/>
        </p:nvSpPr>
        <p:spPr>
          <a:xfrm>
            <a:off x="11181715" y="0"/>
            <a:ext cx="1010920" cy="1010920"/>
          </a:xfrm>
          <a:prstGeom prst="rect">
            <a:avLst/>
          </a:prstGeom>
          <a:solidFill>
            <a:srgbClr val="005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Gráfico 8">
            <a:extLst>
              <a:ext uri="{FF2B5EF4-FFF2-40B4-BE49-F238E27FC236}">
                <a16:creationId xmlns:a16="http://schemas.microsoft.com/office/drawing/2014/main" id="{8EA75801-11A9-4BE2-742A-EC05574E4D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99520" y="306070"/>
            <a:ext cx="575310" cy="398145"/>
          </a:xfrm>
          <a:prstGeom prst="rect">
            <a:avLst/>
          </a:prstGeom>
        </p:spPr>
      </p:pic>
      <p:sp>
        <p:nvSpPr>
          <p:cNvPr id="11" name="Text Box 10">
            <a:extLst>
              <a:ext uri="{FF2B5EF4-FFF2-40B4-BE49-F238E27FC236}">
                <a16:creationId xmlns:a16="http://schemas.microsoft.com/office/drawing/2014/main" id="{DA2FB5B3-859B-2970-17B2-14FC2221B6BF}"/>
              </a:ext>
            </a:extLst>
          </p:cNvPr>
          <p:cNvSpPr txBox="1"/>
          <p:nvPr/>
        </p:nvSpPr>
        <p:spPr>
          <a:xfrm>
            <a:off x="404495" y="182880"/>
            <a:ext cx="1077722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569D"/>
                </a:solidFill>
                <a:effectLst/>
                <a:uLnTx/>
                <a:uFillTx/>
                <a:latin typeface="Arial Regular" panose="020B0704020202090204" charset="0"/>
                <a:ea typeface="+mn-ea"/>
                <a:cs typeface="Arial Regular" panose="020B0704020202090204" charset="0"/>
              </a:rPr>
              <a:t>CFW600 D, E, F Test system </a:t>
            </a:r>
            <a:r>
              <a:rPr kumimoji="0" lang="pt-BR" alt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srgbClr val="00569D"/>
                </a:solidFill>
                <a:effectLst/>
                <a:uLnTx/>
                <a:uFillTx/>
                <a:latin typeface="Arial Regular" panose="020B0704020202090204" charset="0"/>
                <a:ea typeface="+mn-ea"/>
                <a:cs typeface="Arial Regular" panose="020B0704020202090204" charset="0"/>
              </a:rPr>
              <a:t>concept</a:t>
            </a:r>
            <a:r>
              <a:rPr kumimoji="0" lang="pt-BR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569D"/>
                </a:solidFill>
                <a:effectLst/>
                <a:uLnTx/>
                <a:uFillTx/>
                <a:latin typeface="Arial Regular" panose="020B0704020202090204" charset="0"/>
                <a:ea typeface="+mn-ea"/>
                <a:cs typeface="Arial Regular" panose="020B0704020202090204" charset="0"/>
              </a:rPr>
              <a:t>.</a:t>
            </a:r>
            <a:endParaRPr kumimoji="0" lang="pt-BR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4BD0FF"/>
              </a:solidFill>
              <a:effectLst/>
              <a:uLnTx/>
              <a:uFillTx/>
              <a:latin typeface="Arial Regular" panose="020B0704020202090204" charset="0"/>
              <a:ea typeface="+mn-ea"/>
              <a:cs typeface="Arial Regular" panose="020B0704020202090204" charset="0"/>
            </a:endParaRPr>
          </a:p>
        </p:txBody>
      </p:sp>
      <p:sp>
        <p:nvSpPr>
          <p:cNvPr id="17" name="Retângulo 1">
            <a:extLst>
              <a:ext uri="{FF2B5EF4-FFF2-40B4-BE49-F238E27FC236}">
                <a16:creationId xmlns:a16="http://schemas.microsoft.com/office/drawing/2014/main" id="{4CB872C5-B60B-11B1-2D8D-BEFB6B763AD8}"/>
              </a:ext>
            </a:extLst>
          </p:cNvPr>
          <p:cNvSpPr/>
          <p:nvPr/>
        </p:nvSpPr>
        <p:spPr>
          <a:xfrm>
            <a:off x="514985" y="990600"/>
            <a:ext cx="10666730" cy="20320"/>
          </a:xfrm>
          <a:prstGeom prst="rect">
            <a:avLst/>
          </a:prstGeom>
          <a:solidFill>
            <a:srgbClr val="4BD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7" name="Gráfico 101">
            <a:extLst>
              <a:ext uri="{FF2B5EF4-FFF2-40B4-BE49-F238E27FC236}">
                <a16:creationId xmlns:a16="http://schemas.microsoft.com/office/drawing/2014/main" id="{7B50ABD1-C456-0F74-C979-66A82B1E60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81715" y="5391785"/>
            <a:ext cx="1010285" cy="1466215"/>
          </a:xfrm>
          <a:prstGeom prst="rect">
            <a:avLst/>
          </a:prstGeom>
        </p:spPr>
      </p:pic>
      <p:pic>
        <p:nvPicPr>
          <p:cNvPr id="1028" name="Picture 4" descr="Alvo - ícones de setas grátis">
            <a:extLst>
              <a:ext uri="{FF2B5EF4-FFF2-40B4-BE49-F238E27FC236}">
                <a16:creationId xmlns:a16="http://schemas.microsoft.com/office/drawing/2014/main" id="{F5098C92-4A4B-4934-6E98-3C57C9DC7F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2816" y="9652825"/>
            <a:ext cx="85468" cy="8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AC6B5F3C-95D8-12A9-E688-4AAD6B8484A4}"/>
              </a:ext>
            </a:extLst>
          </p:cNvPr>
          <p:cNvSpPr txBox="1"/>
          <p:nvPr/>
        </p:nvSpPr>
        <p:spPr>
          <a:xfrm>
            <a:off x="398969" y="1047562"/>
            <a:ext cx="1126033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Based</a:t>
            </a:r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on</a:t>
            </a:r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the</a:t>
            </a:r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similarity</a:t>
            </a:r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of</a:t>
            </a:r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these</a:t>
            </a:r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sizes</a:t>
            </a:r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with</a:t>
            </a:r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another</a:t>
            </a:r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 drives in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the</a:t>
            </a:r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 catalogue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the</a:t>
            </a:r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concept</a:t>
            </a:r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is</a:t>
            </a:r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to</a:t>
            </a:r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integrate</a:t>
            </a:r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 more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products</a:t>
            </a:r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 in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one</a:t>
            </a:r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or</a:t>
            </a:r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two</a:t>
            </a:r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test</a:t>
            </a:r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 systems.</a:t>
            </a:r>
          </a:p>
          <a:p>
            <a:pPr marL="285750" indent="-285750">
              <a:buFontTx/>
              <a:buChar char="-"/>
            </a:pPr>
            <a:endParaRPr lang="pt-BR" sz="14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742950" lvl="1" indent="-285750">
              <a:buFontTx/>
              <a:buChar char="-"/>
            </a:pP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The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first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concept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consists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of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a single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test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system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with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three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test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positions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to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support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all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products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. (CFW600 D, E, F, CFW900 C, D, E, CFW11 A, B, C, D, E, CFW500 C IP66, F, G).</a:t>
            </a:r>
          </a:p>
          <a:p>
            <a:pPr marL="742950" lvl="1" indent="-285750">
              <a:buFontTx/>
              <a:buChar char="-"/>
            </a:pP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Each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position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will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be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prepared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to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test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specific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product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types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such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as terminal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or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busbars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connections,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low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and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high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power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and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varying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sizes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and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weights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 marL="285750" indent="-285750">
              <a:buFontTx/>
              <a:buChar char="-"/>
            </a:pPr>
            <a:endParaRPr lang="pt-BR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742950" lvl="1" indent="-285750">
              <a:buFontTx/>
              <a:buChar char="-"/>
            </a:pPr>
            <a:endParaRPr lang="pt-BR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pt-BR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485B6B95-9A95-EB0E-4EDB-FE5A86AA02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403" y="2915235"/>
            <a:ext cx="1990541" cy="3179827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1AB276FE-A78D-9F35-2891-5D4E3A08195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67152" y="3942764"/>
            <a:ext cx="3007678" cy="1905261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ACD0002E-D5DC-06EF-C868-68E530AE61D4}"/>
              </a:ext>
            </a:extLst>
          </p:cNvPr>
          <p:cNvSpPr txBox="1"/>
          <p:nvPr/>
        </p:nvSpPr>
        <p:spPr>
          <a:xfrm>
            <a:off x="718226" y="6037713"/>
            <a:ext cx="17832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CFW600 D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6452EB0-32C3-35B3-20EC-4CE5E14DA92C}"/>
              </a:ext>
            </a:extLst>
          </p:cNvPr>
          <p:cNvSpPr txBox="1"/>
          <p:nvPr/>
        </p:nvSpPr>
        <p:spPr>
          <a:xfrm>
            <a:off x="6096000" y="6080691"/>
            <a:ext cx="17832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CFW900 D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77BFEE58-D06C-B6D4-EDD8-3FBC53B1D792}"/>
              </a:ext>
            </a:extLst>
          </p:cNvPr>
          <p:cNvSpPr txBox="1"/>
          <p:nvPr/>
        </p:nvSpPr>
        <p:spPr>
          <a:xfrm>
            <a:off x="7535163" y="6066388"/>
            <a:ext cx="17832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CFW900 E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93AB7826-A3FF-DD8F-AEA3-9C219269BE93}"/>
              </a:ext>
            </a:extLst>
          </p:cNvPr>
          <p:cNvSpPr txBox="1"/>
          <p:nvPr/>
        </p:nvSpPr>
        <p:spPr>
          <a:xfrm>
            <a:off x="9318370" y="6066388"/>
            <a:ext cx="19491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CFW11 A, B, C, D, E</a:t>
            </a: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AB6BA4EC-CFAA-F099-0190-3CFE05F48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4410" y="4197497"/>
            <a:ext cx="1885787" cy="1767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66CFE338-C875-39A9-A6EA-6E62586229E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97292" y="3616728"/>
            <a:ext cx="1478450" cy="2405993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2756FBEB-D00F-E531-5A91-D98D908906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045" y="3451899"/>
            <a:ext cx="1469937" cy="2560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448E986C-0FA0-108C-155D-1CB887D976AF}"/>
              </a:ext>
            </a:extLst>
          </p:cNvPr>
          <p:cNvSpPr txBox="1"/>
          <p:nvPr/>
        </p:nvSpPr>
        <p:spPr>
          <a:xfrm>
            <a:off x="4185838" y="6012305"/>
            <a:ext cx="17832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CFW500 F, G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1779BD3F-27C5-2B3C-3A90-B0729BA6B5EA}"/>
              </a:ext>
            </a:extLst>
          </p:cNvPr>
          <p:cNvSpPr txBox="1"/>
          <p:nvPr/>
        </p:nvSpPr>
        <p:spPr>
          <a:xfrm>
            <a:off x="2322493" y="6037713"/>
            <a:ext cx="17832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CFW500 C IP66</a:t>
            </a:r>
          </a:p>
        </p:txBody>
      </p:sp>
    </p:spTree>
    <p:extLst>
      <p:ext uri="{BB962C8B-B14F-4D97-AF65-F5344CB8AC3E}">
        <p14:creationId xmlns:p14="http://schemas.microsoft.com/office/powerpoint/2010/main" val="1971745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6C2E5-AFD3-67C6-E6DA-AC8B2866E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s 14">
            <a:extLst>
              <a:ext uri="{FF2B5EF4-FFF2-40B4-BE49-F238E27FC236}">
                <a16:creationId xmlns:a16="http://schemas.microsoft.com/office/drawing/2014/main" id="{3F5EAD5E-17E5-E4C8-D797-00CF7600FF32}"/>
              </a:ext>
            </a:extLst>
          </p:cNvPr>
          <p:cNvSpPr/>
          <p:nvPr/>
        </p:nvSpPr>
        <p:spPr>
          <a:xfrm>
            <a:off x="11181715" y="0"/>
            <a:ext cx="1010920" cy="1010920"/>
          </a:xfrm>
          <a:prstGeom prst="rect">
            <a:avLst/>
          </a:prstGeom>
          <a:solidFill>
            <a:srgbClr val="005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Gráfico 8">
            <a:extLst>
              <a:ext uri="{FF2B5EF4-FFF2-40B4-BE49-F238E27FC236}">
                <a16:creationId xmlns:a16="http://schemas.microsoft.com/office/drawing/2014/main" id="{38B9C2E7-F72E-0AA1-73CE-28FD42169F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99520" y="306070"/>
            <a:ext cx="575310" cy="398145"/>
          </a:xfrm>
          <a:prstGeom prst="rect">
            <a:avLst/>
          </a:prstGeom>
        </p:spPr>
      </p:pic>
      <p:sp>
        <p:nvSpPr>
          <p:cNvPr id="11" name="Text Box 10">
            <a:extLst>
              <a:ext uri="{FF2B5EF4-FFF2-40B4-BE49-F238E27FC236}">
                <a16:creationId xmlns:a16="http://schemas.microsoft.com/office/drawing/2014/main" id="{56077DF7-A5DA-6579-E93D-95445424CB22}"/>
              </a:ext>
            </a:extLst>
          </p:cNvPr>
          <p:cNvSpPr txBox="1"/>
          <p:nvPr/>
        </p:nvSpPr>
        <p:spPr>
          <a:xfrm>
            <a:off x="404495" y="182880"/>
            <a:ext cx="1077722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569D"/>
                </a:solidFill>
                <a:effectLst/>
                <a:uLnTx/>
                <a:uFillTx/>
                <a:latin typeface="Arial Regular" panose="020B0704020202090204" charset="0"/>
                <a:ea typeface="+mn-ea"/>
                <a:cs typeface="Arial Regular" panose="020B0704020202090204" charset="0"/>
              </a:rPr>
              <a:t>CFW600 D, E Test system </a:t>
            </a:r>
            <a:r>
              <a:rPr kumimoji="0" lang="pt-BR" alt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srgbClr val="00569D"/>
                </a:solidFill>
                <a:effectLst/>
                <a:uLnTx/>
                <a:uFillTx/>
                <a:latin typeface="Arial Regular" panose="020B0704020202090204" charset="0"/>
                <a:ea typeface="+mn-ea"/>
                <a:cs typeface="Arial Regular" panose="020B0704020202090204" charset="0"/>
              </a:rPr>
              <a:t>concept</a:t>
            </a:r>
            <a:r>
              <a:rPr kumimoji="0" lang="pt-BR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569D"/>
                </a:solidFill>
                <a:effectLst/>
                <a:uLnTx/>
                <a:uFillTx/>
                <a:latin typeface="Arial Regular" panose="020B0704020202090204" charset="0"/>
                <a:ea typeface="+mn-ea"/>
                <a:cs typeface="Arial Regular" panose="020B0704020202090204" charset="0"/>
              </a:rPr>
              <a:t>.</a:t>
            </a:r>
            <a:endParaRPr kumimoji="0" lang="pt-BR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4BD0FF"/>
              </a:solidFill>
              <a:effectLst/>
              <a:uLnTx/>
              <a:uFillTx/>
              <a:latin typeface="Arial Regular" panose="020B0704020202090204" charset="0"/>
              <a:ea typeface="+mn-ea"/>
              <a:cs typeface="Arial Regular" panose="020B0704020202090204" charset="0"/>
            </a:endParaRPr>
          </a:p>
        </p:txBody>
      </p:sp>
      <p:sp>
        <p:nvSpPr>
          <p:cNvPr id="17" name="Retângulo 1">
            <a:extLst>
              <a:ext uri="{FF2B5EF4-FFF2-40B4-BE49-F238E27FC236}">
                <a16:creationId xmlns:a16="http://schemas.microsoft.com/office/drawing/2014/main" id="{C6A3565F-A869-7161-E88B-E9E799B9457C}"/>
              </a:ext>
            </a:extLst>
          </p:cNvPr>
          <p:cNvSpPr/>
          <p:nvPr/>
        </p:nvSpPr>
        <p:spPr>
          <a:xfrm>
            <a:off x="514985" y="990600"/>
            <a:ext cx="10666730" cy="20320"/>
          </a:xfrm>
          <a:prstGeom prst="rect">
            <a:avLst/>
          </a:prstGeom>
          <a:solidFill>
            <a:srgbClr val="4BD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7" name="Gráfico 101">
            <a:extLst>
              <a:ext uri="{FF2B5EF4-FFF2-40B4-BE49-F238E27FC236}">
                <a16:creationId xmlns:a16="http://schemas.microsoft.com/office/drawing/2014/main" id="{D86EC2C6-9A7C-BA2E-4205-514A90BDC9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81715" y="5391785"/>
            <a:ext cx="1010285" cy="1466215"/>
          </a:xfrm>
          <a:prstGeom prst="rect">
            <a:avLst/>
          </a:prstGeom>
        </p:spPr>
      </p:pic>
      <p:pic>
        <p:nvPicPr>
          <p:cNvPr id="1028" name="Picture 4" descr="Alvo - ícones de setas grátis">
            <a:extLst>
              <a:ext uri="{FF2B5EF4-FFF2-40B4-BE49-F238E27FC236}">
                <a16:creationId xmlns:a16="http://schemas.microsoft.com/office/drawing/2014/main" id="{494842D5-6F49-E257-030D-B7453A7E04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2816" y="9652825"/>
            <a:ext cx="85468" cy="8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BFD25BCE-67D3-AA46-8772-C546BDFF78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027" y="2193240"/>
            <a:ext cx="4577833" cy="400246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F7C6E4E8-1EFD-B5D1-4736-235D49F3DA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924" t="17616" r="14126" b="42082"/>
          <a:stretch>
            <a:fillRect/>
          </a:stretch>
        </p:blipFill>
        <p:spPr bwMode="auto">
          <a:xfrm>
            <a:off x="8546873" y="2974752"/>
            <a:ext cx="2459737" cy="2234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D27AB69-4F21-3564-FB6C-D3129150A5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5847072" y="1557561"/>
            <a:ext cx="1435550" cy="3105475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C5F08A13-E2D4-3B4D-78BE-BDF87E6C7A8D}"/>
              </a:ext>
            </a:extLst>
          </p:cNvPr>
          <p:cNvSpPr txBox="1"/>
          <p:nvPr/>
        </p:nvSpPr>
        <p:spPr>
          <a:xfrm>
            <a:off x="339881" y="1010879"/>
            <a:ext cx="1066672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The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second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concept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is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two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dedicated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test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systems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separated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based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on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product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power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size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and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connections.</a:t>
            </a:r>
          </a:p>
          <a:p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lvl="1"/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1- 	The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low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power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test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system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will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attend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: CFW900 D T6, CFW11 A, B, C, D, CFW500 C IP66, F.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All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these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products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use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power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terminals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(bornes) connections.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E5A1BA6-6311-B736-865C-023281FD83D7}"/>
              </a:ext>
            </a:extLst>
          </p:cNvPr>
          <p:cNvSpPr txBox="1"/>
          <p:nvPr/>
        </p:nvSpPr>
        <p:spPr>
          <a:xfrm>
            <a:off x="1526921" y="6195708"/>
            <a:ext cx="17832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CFW11 A, B, C, D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014DE25-C536-5618-E070-5227BC54B677}"/>
              </a:ext>
            </a:extLst>
          </p:cNvPr>
          <p:cNvSpPr txBox="1"/>
          <p:nvPr/>
        </p:nvSpPr>
        <p:spPr>
          <a:xfrm>
            <a:off x="5793105" y="3845188"/>
            <a:ext cx="17832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CFW500/501 F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444316C9-FCE1-2D36-6BE0-AF48B9737CC4}"/>
              </a:ext>
            </a:extLst>
          </p:cNvPr>
          <p:cNvSpPr txBox="1"/>
          <p:nvPr/>
        </p:nvSpPr>
        <p:spPr>
          <a:xfrm>
            <a:off x="9158185" y="6114160"/>
            <a:ext cx="17832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CFW900 D T6</a:t>
            </a: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FF283815-52B9-EB88-BD0A-6B1EE527E0F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33118" y="4588414"/>
            <a:ext cx="3593593" cy="1240978"/>
          </a:xfrm>
          <a:prstGeom prst="rect">
            <a:avLst/>
          </a:prstGeom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89D74F30-461E-8A3B-1FDF-8CF4BE7CC856}"/>
              </a:ext>
            </a:extLst>
          </p:cNvPr>
          <p:cNvSpPr txBox="1"/>
          <p:nvPr/>
        </p:nvSpPr>
        <p:spPr>
          <a:xfrm>
            <a:off x="5793105" y="6155466"/>
            <a:ext cx="17832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CFW600 D, E</a:t>
            </a:r>
          </a:p>
        </p:txBody>
      </p:sp>
    </p:spTree>
    <p:extLst>
      <p:ext uri="{BB962C8B-B14F-4D97-AF65-F5344CB8AC3E}">
        <p14:creationId xmlns:p14="http://schemas.microsoft.com/office/powerpoint/2010/main" val="1166091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9E8E1-7412-F0F8-4CE8-F15AFA368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s 14">
            <a:extLst>
              <a:ext uri="{FF2B5EF4-FFF2-40B4-BE49-F238E27FC236}">
                <a16:creationId xmlns:a16="http://schemas.microsoft.com/office/drawing/2014/main" id="{D1C9F88F-1130-9735-1270-563A4F2CDFEC}"/>
              </a:ext>
            </a:extLst>
          </p:cNvPr>
          <p:cNvSpPr/>
          <p:nvPr/>
        </p:nvSpPr>
        <p:spPr>
          <a:xfrm>
            <a:off x="11181715" y="0"/>
            <a:ext cx="1010920" cy="1010920"/>
          </a:xfrm>
          <a:prstGeom prst="rect">
            <a:avLst/>
          </a:prstGeom>
          <a:solidFill>
            <a:srgbClr val="005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Gráfico 8">
            <a:extLst>
              <a:ext uri="{FF2B5EF4-FFF2-40B4-BE49-F238E27FC236}">
                <a16:creationId xmlns:a16="http://schemas.microsoft.com/office/drawing/2014/main" id="{A50C49DF-78EC-B88D-2D19-C47449A974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99520" y="306070"/>
            <a:ext cx="575310" cy="398145"/>
          </a:xfrm>
          <a:prstGeom prst="rect">
            <a:avLst/>
          </a:prstGeom>
        </p:spPr>
      </p:pic>
      <p:sp>
        <p:nvSpPr>
          <p:cNvPr id="11" name="Text Box 10">
            <a:extLst>
              <a:ext uri="{FF2B5EF4-FFF2-40B4-BE49-F238E27FC236}">
                <a16:creationId xmlns:a16="http://schemas.microsoft.com/office/drawing/2014/main" id="{F3526EBA-D84D-4704-9E90-5B51F6D7FD31}"/>
              </a:ext>
            </a:extLst>
          </p:cNvPr>
          <p:cNvSpPr txBox="1"/>
          <p:nvPr/>
        </p:nvSpPr>
        <p:spPr>
          <a:xfrm>
            <a:off x="404495" y="182880"/>
            <a:ext cx="1077722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569D"/>
                </a:solidFill>
                <a:effectLst/>
                <a:uLnTx/>
                <a:uFillTx/>
                <a:latin typeface="Arial Regular" panose="020B0704020202090204" charset="0"/>
                <a:ea typeface="+mn-ea"/>
                <a:cs typeface="Arial Regular" panose="020B0704020202090204" charset="0"/>
              </a:rPr>
              <a:t>CFW600 D, E Test system </a:t>
            </a:r>
            <a:r>
              <a:rPr kumimoji="0" lang="pt-BR" alt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srgbClr val="00569D"/>
                </a:solidFill>
                <a:effectLst/>
                <a:uLnTx/>
                <a:uFillTx/>
                <a:latin typeface="Arial Regular" panose="020B0704020202090204" charset="0"/>
                <a:ea typeface="+mn-ea"/>
                <a:cs typeface="Arial Regular" panose="020B0704020202090204" charset="0"/>
              </a:rPr>
              <a:t>concept</a:t>
            </a:r>
            <a:r>
              <a:rPr kumimoji="0" lang="pt-BR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569D"/>
                </a:solidFill>
                <a:effectLst/>
                <a:uLnTx/>
                <a:uFillTx/>
                <a:latin typeface="Arial Regular" panose="020B0704020202090204" charset="0"/>
                <a:ea typeface="+mn-ea"/>
                <a:cs typeface="Arial Regular" panose="020B0704020202090204" charset="0"/>
              </a:rPr>
              <a:t>.</a:t>
            </a:r>
            <a:endParaRPr kumimoji="0" lang="pt-BR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4BD0FF"/>
              </a:solidFill>
              <a:effectLst/>
              <a:uLnTx/>
              <a:uFillTx/>
              <a:latin typeface="Arial Regular" panose="020B0704020202090204" charset="0"/>
              <a:ea typeface="+mn-ea"/>
              <a:cs typeface="Arial Regular" panose="020B0704020202090204" charset="0"/>
            </a:endParaRPr>
          </a:p>
        </p:txBody>
      </p:sp>
      <p:sp>
        <p:nvSpPr>
          <p:cNvPr id="17" name="Retângulo 1">
            <a:extLst>
              <a:ext uri="{FF2B5EF4-FFF2-40B4-BE49-F238E27FC236}">
                <a16:creationId xmlns:a16="http://schemas.microsoft.com/office/drawing/2014/main" id="{A1F69EA8-7183-3EF6-46F5-1874CA354F03}"/>
              </a:ext>
            </a:extLst>
          </p:cNvPr>
          <p:cNvSpPr/>
          <p:nvPr/>
        </p:nvSpPr>
        <p:spPr>
          <a:xfrm>
            <a:off x="514985" y="990600"/>
            <a:ext cx="10666730" cy="20320"/>
          </a:xfrm>
          <a:prstGeom prst="rect">
            <a:avLst/>
          </a:prstGeom>
          <a:solidFill>
            <a:srgbClr val="4BD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7" name="Gráfico 101">
            <a:extLst>
              <a:ext uri="{FF2B5EF4-FFF2-40B4-BE49-F238E27FC236}">
                <a16:creationId xmlns:a16="http://schemas.microsoft.com/office/drawing/2014/main" id="{51851997-5CE9-805C-D90E-C0DAFAF7EA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81715" y="5391785"/>
            <a:ext cx="1010285" cy="1466215"/>
          </a:xfrm>
          <a:prstGeom prst="rect">
            <a:avLst/>
          </a:prstGeom>
        </p:spPr>
      </p:pic>
      <p:pic>
        <p:nvPicPr>
          <p:cNvPr id="1028" name="Picture 4" descr="Alvo - ícones de setas grátis">
            <a:extLst>
              <a:ext uri="{FF2B5EF4-FFF2-40B4-BE49-F238E27FC236}">
                <a16:creationId xmlns:a16="http://schemas.microsoft.com/office/drawing/2014/main" id="{956E932C-8865-264A-5181-CA3A0D3D04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2816" y="9652825"/>
            <a:ext cx="85468" cy="8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2B4274DB-732D-2E5C-418E-78E484B21587}"/>
              </a:ext>
            </a:extLst>
          </p:cNvPr>
          <p:cNvSpPr txBox="1"/>
          <p:nvPr/>
        </p:nvSpPr>
        <p:spPr>
          <a:xfrm>
            <a:off x="339880" y="898856"/>
            <a:ext cx="1066672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2- 	The high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power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test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system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will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attend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: CFW600 F, CFW900 D T2/T4, E,  CFW11 E, CFW500 G.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All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these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product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use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busbars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for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power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 connection.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01B7C06-BE9D-CF03-E65C-F09D2D838291}"/>
              </a:ext>
            </a:extLst>
          </p:cNvPr>
          <p:cNvSpPr txBox="1"/>
          <p:nvPr/>
        </p:nvSpPr>
        <p:spPr>
          <a:xfrm>
            <a:off x="2027406" y="6124892"/>
            <a:ext cx="17832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CFW11 E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07E203E-F2A1-0FF7-330C-59B6A6A53612}"/>
              </a:ext>
            </a:extLst>
          </p:cNvPr>
          <p:cNvSpPr txBox="1"/>
          <p:nvPr/>
        </p:nvSpPr>
        <p:spPr>
          <a:xfrm>
            <a:off x="5673245" y="6124892"/>
            <a:ext cx="17832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CFW500/501 G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A8F36ED-0D63-3744-59BA-79C2F9F992FB}"/>
              </a:ext>
            </a:extLst>
          </p:cNvPr>
          <p:cNvSpPr txBox="1"/>
          <p:nvPr/>
        </p:nvSpPr>
        <p:spPr>
          <a:xfrm>
            <a:off x="8960834" y="6124892"/>
            <a:ext cx="19128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CFW900 D T2/T4, E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E678B2E-1612-11EA-CA04-8E3640D5E4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434" y="2403032"/>
            <a:ext cx="3499382" cy="372186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FFC7DE2-C780-65AB-C647-6B2C8E8BB0B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5172"/>
          <a:stretch>
            <a:fillRect/>
          </a:stretch>
        </p:blipFill>
        <p:spPr>
          <a:xfrm>
            <a:off x="8652820" y="2064478"/>
            <a:ext cx="2528895" cy="404968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6E5C03E-F0C7-77B8-B5BB-C96C528433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9803" y="2403032"/>
            <a:ext cx="3724795" cy="327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612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3430</TotalTime>
  <Words>408</Words>
  <Application>Microsoft Office PowerPoint</Application>
  <PresentationFormat>Widescreen</PresentationFormat>
  <Paragraphs>46</Paragraphs>
  <Slides>5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Arial Regular</vt:lpstr>
      <vt:lpstr>Calibri</vt:lpstr>
      <vt:lpstr>Tema do Office</vt:lpstr>
      <vt:lpstr>Test station system concept for CFW600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Monica Barbosa Neves</dc:creator>
  <cp:lastModifiedBy>Aluizio Augusto Kleine Kirschner</cp:lastModifiedBy>
  <cp:revision>26</cp:revision>
  <dcterms:created xsi:type="dcterms:W3CDTF">2026-04-21T12:37:32Z</dcterms:created>
  <dcterms:modified xsi:type="dcterms:W3CDTF">2026-05-05T19:58:28Z</dcterms:modified>
</cp:coreProperties>
</file>